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60" r:id="rId3"/>
    <p:sldId id="257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64" y="2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7AC9C-EB52-4586-B59B-B8CFE0AC9DA4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79771-E16E-4C10-8E40-B4D6FF7614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0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E68B6-F990-4A65-970C-B5020E0BEFF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5181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F934CA-947B-4D61-838D-C2C6D91CA6D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30"/>
          <p:cNvSpPr/>
          <p:nvPr userDrawn="1"/>
        </p:nvSpPr>
        <p:spPr>
          <a:xfrm>
            <a:off x="307340" y="454936"/>
            <a:ext cx="325755" cy="298450"/>
          </a:xfrm>
          <a:prstGeom prst="rect">
            <a:avLst/>
          </a:prstGeom>
          <a:noFill/>
          <a:ln w="47625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31"/>
          <p:cNvSpPr/>
          <p:nvPr userDrawn="1"/>
        </p:nvSpPr>
        <p:spPr>
          <a:xfrm>
            <a:off x="458470" y="615591"/>
            <a:ext cx="291465" cy="241300"/>
          </a:xfrm>
          <a:prstGeom prst="rect">
            <a:avLst/>
          </a:prstGeom>
          <a:noFill/>
          <a:ln w="31750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105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21EC15-CB8F-467D-AB91-7E32BBA6D8C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26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BD5C59-A464-4BE3-AEE9-6E4FA815F36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30"/>
          <p:cNvSpPr/>
          <p:nvPr userDrawn="1"/>
        </p:nvSpPr>
        <p:spPr>
          <a:xfrm>
            <a:off x="307340" y="454936"/>
            <a:ext cx="325755" cy="298450"/>
          </a:xfrm>
          <a:prstGeom prst="rect">
            <a:avLst/>
          </a:prstGeom>
          <a:noFill/>
          <a:ln w="47625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31"/>
          <p:cNvSpPr/>
          <p:nvPr userDrawn="1"/>
        </p:nvSpPr>
        <p:spPr>
          <a:xfrm>
            <a:off x="458470" y="615591"/>
            <a:ext cx="291465" cy="241300"/>
          </a:xfrm>
          <a:prstGeom prst="rect">
            <a:avLst/>
          </a:prstGeom>
          <a:noFill/>
          <a:ln w="31750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64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A42CD0-8AAB-466C-8645-2847DA3E4EE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30"/>
          <p:cNvSpPr/>
          <p:nvPr userDrawn="1"/>
        </p:nvSpPr>
        <p:spPr>
          <a:xfrm>
            <a:off x="218563" y="818920"/>
            <a:ext cx="325755" cy="298450"/>
          </a:xfrm>
          <a:prstGeom prst="rect">
            <a:avLst/>
          </a:prstGeom>
          <a:noFill/>
          <a:ln w="47625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31"/>
          <p:cNvSpPr/>
          <p:nvPr userDrawn="1"/>
        </p:nvSpPr>
        <p:spPr>
          <a:xfrm>
            <a:off x="369693" y="979575"/>
            <a:ext cx="291465" cy="241300"/>
          </a:xfrm>
          <a:prstGeom prst="rect">
            <a:avLst/>
          </a:prstGeom>
          <a:noFill/>
          <a:ln w="31750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590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5398A-0736-4EB5-BCED-3EC4971E2EC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30"/>
          <p:cNvSpPr/>
          <p:nvPr userDrawn="1"/>
        </p:nvSpPr>
        <p:spPr>
          <a:xfrm>
            <a:off x="307340" y="454936"/>
            <a:ext cx="325755" cy="298450"/>
          </a:xfrm>
          <a:prstGeom prst="rect">
            <a:avLst/>
          </a:prstGeom>
          <a:noFill/>
          <a:ln w="47625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31"/>
          <p:cNvSpPr/>
          <p:nvPr userDrawn="1"/>
        </p:nvSpPr>
        <p:spPr>
          <a:xfrm>
            <a:off x="458470" y="615591"/>
            <a:ext cx="291465" cy="241300"/>
          </a:xfrm>
          <a:prstGeom prst="rect">
            <a:avLst/>
          </a:prstGeom>
          <a:noFill/>
          <a:ln w="31750">
            <a:solidFill>
              <a:srgbClr val="9F13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840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008C1D-2EE5-4B92-9CA5-0E9E1526FF8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A605E7-3190-4F74-803D-85F00CAF113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33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9A3A36-985B-45CD-9048-128BEF1DE34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2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A5170B-9E1E-4F8E-A857-802A859CD63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92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FD460E-8149-4FCA-9AF6-B60DDFBF5E3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204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过渡页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20" hidden="1"/>
          <p:cNvCxnSpPr/>
          <p:nvPr userDrawn="1"/>
        </p:nvCxnSpPr>
        <p:spPr>
          <a:xfrm>
            <a:off x="3181351" y="431803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 userDrawn="1"/>
        </p:nvCxnSpPr>
        <p:spPr>
          <a:xfrm flipH="1">
            <a:off x="1189568" y="6480175"/>
            <a:ext cx="11040533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H="1">
            <a:off x="-143934" y="6480175"/>
            <a:ext cx="719667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6"/>
          <p:cNvGrpSpPr>
            <a:grpSpLocks/>
          </p:cNvGrpSpPr>
          <p:nvPr userDrawn="1"/>
        </p:nvGrpSpPr>
        <p:grpSpPr bwMode="auto">
          <a:xfrm flipH="1">
            <a:off x="624420" y="6269041"/>
            <a:ext cx="552449" cy="422275"/>
            <a:chOff x="7019085" y="157473"/>
            <a:chExt cx="3868830" cy="3952255"/>
          </a:xfrm>
        </p:grpSpPr>
        <p:sp>
          <p:nvSpPr>
            <p:cNvPr id="6" name="椭圆 5"/>
            <p:cNvSpPr/>
            <p:nvPr/>
          </p:nvSpPr>
          <p:spPr>
            <a:xfrm>
              <a:off x="8634801" y="157473"/>
              <a:ext cx="637399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542857">
              <a:off x="9361138" y="320907"/>
              <a:ext cx="622571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 rot="3085714">
              <a:off x="9938501" y="782248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 rot="7714286">
              <a:off x="9938501" y="2862382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 rot="4628572">
              <a:off x="10264609" y="1450858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9257143">
              <a:off x="9361138" y="3322244"/>
              <a:ext cx="622571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 rot="6171428">
              <a:off x="10264609" y="2193763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 rot="10800000">
              <a:off x="8634801" y="3485688"/>
              <a:ext cx="637399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 rot="12342857">
              <a:off x="7923291" y="3322244"/>
              <a:ext cx="622571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 rot="13885714">
              <a:off x="7344459" y="2862382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 rot="20057142">
              <a:off x="7923291" y="320907"/>
              <a:ext cx="622571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 rot="15428571">
              <a:off x="7018350" y="2193763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 rot="16971429">
              <a:off x="7018350" y="1450858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 rot="18514286">
              <a:off x="7344459" y="782248"/>
              <a:ext cx="624040" cy="622571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endParaRPr>
            </a:p>
          </p:txBody>
        </p:sp>
      </p:grpSp>
      <p:sp>
        <p:nvSpPr>
          <p:cNvPr id="24" name="文本框 27"/>
          <p:cNvSpPr txBox="1"/>
          <p:nvPr userDrawn="1"/>
        </p:nvSpPr>
        <p:spPr>
          <a:xfrm>
            <a:off x="444500" y="455616"/>
            <a:ext cx="1636184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opperplate Gothic Bold" charset="0"/>
                <a:ea typeface="微软雅黑" charset="0"/>
                <a:cs typeface="微软雅黑" charset="0"/>
              </a:rPr>
              <a:t>第二部分</a:t>
            </a:r>
          </a:p>
        </p:txBody>
      </p:sp>
      <p:sp>
        <p:nvSpPr>
          <p:cNvPr id="25" name="任意多边形 22"/>
          <p:cNvSpPr/>
          <p:nvPr userDrawn="1"/>
        </p:nvSpPr>
        <p:spPr>
          <a:xfrm flipV="1">
            <a:off x="232833" y="423863"/>
            <a:ext cx="1847851" cy="4318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pperplate Gothic Bold" charset="0"/>
              <a:ea typeface="微软雅黑" charset="0"/>
              <a:cs typeface="微软雅黑" charset="0"/>
            </a:endParaRPr>
          </a:p>
        </p:txBody>
      </p:sp>
      <p:sp>
        <p:nvSpPr>
          <p:cNvPr id="26" name="Slide Number Placeholder 1"/>
          <p:cNvSpPr txBox="1">
            <a:spLocks/>
          </p:cNvSpPr>
          <p:nvPr userDrawn="1"/>
        </p:nvSpPr>
        <p:spPr>
          <a:xfrm>
            <a:off x="706968" y="6334128"/>
            <a:ext cx="389467" cy="284163"/>
          </a:xfrm>
          <a:prstGeom prst="rect">
            <a:avLst/>
          </a:prstGeom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Copperplate Gothic Bold" charset="0"/>
                <a:ea typeface="微软雅黑" charset="0"/>
                <a:cs typeface="微软雅黑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7105E3-D29F-C04B-BB2D-169F3278A5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pperplate Gothic Bold" charset="0"/>
                <a:ea typeface="微软雅黑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pperplate Gothic Bold" charset="0"/>
              <a:ea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737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14" b="1" i="0">
                <a:solidFill>
                  <a:srgbClr val="9A00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9/10/2024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593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14" b="1" i="0">
                <a:solidFill>
                  <a:srgbClr val="9A00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7694" y="1571598"/>
            <a:ext cx="4804401" cy="2512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14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241886" y="1904675"/>
            <a:ext cx="4229552" cy="21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42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9/10/2024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484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2_1"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91000">
              <a:schemeClr val="bg1">
                <a:tint val="98000"/>
                <a:satMod val="130000"/>
                <a:shade val="90000"/>
                <a:lumMod val="103000"/>
              </a:schemeClr>
            </a:gs>
            <a:gs pos="94000">
              <a:srgbClr val="9F271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693" y="6140935"/>
            <a:ext cx="1470307" cy="964395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 flipH="1">
            <a:off x="0" y="308952"/>
            <a:ext cx="871754" cy="461665"/>
            <a:chOff x="11475417" y="159629"/>
            <a:chExt cx="871754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476FE92-1710-4E4A-BEBD-1B47575241BB}"/>
                </a:ext>
              </a:extLst>
            </p:cNvPr>
            <p:cNvSpPr/>
            <p:nvPr/>
          </p:nvSpPr>
          <p:spPr>
            <a:xfrm>
              <a:off x="11764397" y="159629"/>
              <a:ext cx="582774" cy="461665"/>
            </a:xfrm>
            <a:prstGeom prst="rect">
              <a:avLst/>
            </a:prstGeom>
            <a:solidFill>
              <a:srgbClr val="9F271F"/>
            </a:solidFill>
            <a:ln>
              <a:solidFill>
                <a:srgbClr val="9F271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6E350F-E0CF-489D-9DDA-2DE5906E8F26}"/>
                </a:ext>
              </a:extLst>
            </p:cNvPr>
            <p:cNvSpPr/>
            <p:nvPr/>
          </p:nvSpPr>
          <p:spPr>
            <a:xfrm>
              <a:off x="11475417" y="159629"/>
              <a:ext cx="169629" cy="461665"/>
            </a:xfrm>
            <a:prstGeom prst="rect">
              <a:avLst/>
            </a:prstGeom>
            <a:solidFill>
              <a:srgbClr val="9F271F"/>
            </a:solidFill>
            <a:ln>
              <a:solidFill>
                <a:srgbClr val="9F271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2" name="Rectangle 3"/>
          <p:cNvSpPr>
            <a:spLocks noGrp="1" noChangeArrowheads="1"/>
          </p:cNvSpPr>
          <p:nvPr>
            <p:ph idx="4294967295"/>
          </p:nvPr>
        </p:nvSpPr>
        <p:spPr bwMode="auto">
          <a:xfrm>
            <a:off x="514351" y="1107045"/>
            <a:ext cx="11186583" cy="5269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71438" tIns="36512" rIns="71438" bIns="36512" numCol="1" anchor="t" anchorCtr="0" compatLnSpc="1">
            <a:prstTxWarp prst="textNoShape">
              <a:avLst/>
            </a:prstTxWarp>
          </a:bodyPr>
          <a:lstStyle>
            <a:lvl1pPr marL="457200" indent="-457200">
              <a:lnSpc>
                <a:spcPct val="150000"/>
              </a:lnSpc>
              <a:buFont typeface="Wingdings" charset="2"/>
              <a:buChar char="u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01675" indent="-342900">
              <a:lnSpc>
                <a:spcPct val="150000"/>
              </a:lnSpc>
              <a:buClr>
                <a:schemeClr val="tx1"/>
              </a:buClr>
              <a:buFont typeface="Wingdings" charset="2"/>
              <a:buChar char="Ø"/>
              <a:defRPr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58862" indent="-342900">
              <a:lnSpc>
                <a:spcPct val="150000"/>
              </a:lnSpc>
              <a:buClr>
                <a:schemeClr val="tx1"/>
              </a:buClr>
              <a:buFont typeface="Arial" charset="0"/>
              <a:buChar char="•"/>
              <a:defRPr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49387" indent="-285750">
              <a:lnSpc>
                <a:spcPct val="150000"/>
              </a:lnSpc>
              <a:buClr>
                <a:schemeClr val="tx1"/>
              </a:buClr>
              <a:buFont typeface="Arial" charset="0"/>
              <a:buChar char="•"/>
              <a:defRPr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874838" indent="0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105" y="273968"/>
            <a:ext cx="5573468" cy="559939"/>
          </a:xfrm>
        </p:spPr>
        <p:txBody>
          <a:bodyPr>
            <a:normAutofit/>
          </a:bodyPr>
          <a:lstStyle>
            <a:lvl1pPr>
              <a:defRPr kumimoji="1" lang="zh-CN" altLang="en-US" sz="3000" b="1" kern="1200" dirty="0">
                <a:solidFill>
                  <a:srgbClr val="9F1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3273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15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115570"/>
            <a:ext cx="10515600" cy="50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963C9A-3399-419A-851F-50145D8E239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53550" y="471362"/>
            <a:ext cx="200025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4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03866" y="1986135"/>
            <a:ext cx="9144000" cy="1667478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04830010</a:t>
            </a:r>
            <a:br>
              <a:rPr lang="en-US" altLang="zh-CN" sz="4800" dirty="0"/>
            </a:br>
            <a:r>
              <a:rPr lang="zh-CN" altLang="en-US" sz="4800" dirty="0"/>
              <a:t>信息技术概论</a:t>
            </a:r>
            <a:endParaRPr lang="zh-CN" altLang="en-US" sz="4800" b="1" dirty="0"/>
          </a:p>
        </p:txBody>
      </p:sp>
      <p:sp>
        <p:nvSpPr>
          <p:cNvPr id="7" name="Subtitle 5"/>
          <p:cNvSpPr>
            <a:spLocks noGrp="1"/>
          </p:cNvSpPr>
          <p:nvPr>
            <p:ph type="subTitle" idx="1"/>
          </p:nvPr>
        </p:nvSpPr>
        <p:spPr>
          <a:xfrm>
            <a:off x="2447312" y="4042630"/>
            <a:ext cx="6523629" cy="2177199"/>
          </a:xfrm>
          <a:solidFill>
            <a:srgbClr val="FFFFFF"/>
          </a:solidFill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zh-CN" altLang="en-US" sz="1600" dirty="0"/>
              <a:t>刘云淮</a:t>
            </a:r>
            <a:r>
              <a:rPr lang="zh-CN" altLang="en-US" sz="1600" dirty="0" smtClean="0"/>
              <a:t>，博雅特聘教授</a:t>
            </a:r>
            <a:endParaRPr lang="en-US" altLang="zh-CN" sz="1600" dirty="0" smtClean="0"/>
          </a:p>
          <a:p>
            <a:pPr algn="ctr"/>
            <a:r>
              <a:rPr lang="zh-CN" altLang="en-US" sz="1600" dirty="0" smtClean="0"/>
              <a:t>北京大学计算机学院</a:t>
            </a:r>
            <a:endParaRPr lang="en-US" altLang="zh-CN" sz="1600" dirty="0" smtClean="0"/>
          </a:p>
          <a:p>
            <a:r>
              <a:rPr lang="zh-CN" altLang="en-US" sz="1600" dirty="0" smtClean="0"/>
              <a:t>北京大数据研究院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副院长</a:t>
            </a:r>
            <a:endParaRPr lang="en-US" altLang="zh-CN" sz="1600" dirty="0" smtClean="0"/>
          </a:p>
          <a:p>
            <a:pPr algn="ctr"/>
            <a:r>
              <a:rPr lang="zh-CN" altLang="en-US" sz="1600" dirty="0" smtClean="0"/>
              <a:t>北京大学</a:t>
            </a:r>
            <a:r>
              <a:rPr lang="zh-CN" altLang="en-US" sz="1600" dirty="0"/>
              <a:t>大数据科学研究中心</a:t>
            </a:r>
            <a:endParaRPr lang="en-US" altLang="zh-CN" sz="1600" dirty="0"/>
          </a:p>
          <a:p>
            <a:pPr algn="ctr"/>
            <a:r>
              <a:rPr lang="zh-CN" altLang="en-US" sz="1600" dirty="0"/>
              <a:t>大</a:t>
            </a:r>
            <a:r>
              <a:rPr lang="zh-CN" altLang="en-US" sz="1600" dirty="0" smtClean="0"/>
              <a:t>数据分析与应用技术国家</a:t>
            </a:r>
            <a:r>
              <a:rPr lang="zh-CN" altLang="en-US" sz="1600" dirty="0"/>
              <a:t>工程</a:t>
            </a:r>
            <a:r>
              <a:rPr lang="zh-CN" altLang="en-US" sz="1600" dirty="0" smtClean="0"/>
              <a:t>实验室</a:t>
            </a:r>
            <a:endParaRPr lang="en-US" altLang="zh-CN" sz="1600" dirty="0" smtClean="0"/>
          </a:p>
          <a:p>
            <a:pPr algn="ctr"/>
            <a:r>
              <a:rPr lang="en-US" altLang="zh-CN" sz="1600" dirty="0" smtClean="0"/>
              <a:t>2024</a:t>
            </a:r>
            <a:r>
              <a:rPr lang="zh-CN" altLang="en-US" sz="1600" dirty="0" smtClean="0"/>
              <a:t>秋天</a:t>
            </a:r>
            <a:endParaRPr lang="en-US" altLang="zh-CN" sz="1600" dirty="0" smtClean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3610A-FB6D-47F0-B6FD-3F0A8E73C461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12" name="图片 11" descr="VCG211119591248"/>
          <p:cNvPicPr>
            <a:picLocks noChangeAspect="1"/>
          </p:cNvPicPr>
          <p:nvPr/>
        </p:nvPicPr>
        <p:blipFill>
          <a:blip r:embed="rId2"/>
          <a:srcRect t="22390" b="11087"/>
          <a:stretch>
            <a:fillRect/>
          </a:stretch>
        </p:blipFill>
        <p:spPr>
          <a:xfrm>
            <a:off x="0" y="0"/>
            <a:ext cx="6273801" cy="1793337"/>
          </a:xfrm>
          <a:prstGeom prst="rect">
            <a:avLst/>
          </a:prstGeom>
        </p:spPr>
      </p:pic>
      <p:sp>
        <p:nvSpPr>
          <p:cNvPr id="13" name="矩形 11"/>
          <p:cNvSpPr>
            <a:spLocks noChangeArrowheads="1"/>
          </p:cNvSpPr>
          <p:nvPr/>
        </p:nvSpPr>
        <p:spPr bwMode="auto">
          <a:xfrm>
            <a:off x="6273801" y="-5715"/>
            <a:ext cx="5909626" cy="1793337"/>
          </a:xfrm>
          <a:prstGeom prst="rect">
            <a:avLst/>
          </a:prstGeom>
          <a:solidFill>
            <a:srgbClr val="9F1300"/>
          </a:solidFill>
          <a:ln>
            <a:solidFill>
              <a:srgbClr val="9F1300"/>
            </a:solidFill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latin typeface="Impact" panose="020B0806030902050204" charset="0"/>
            </a:endParaRPr>
          </a:p>
        </p:txBody>
      </p:sp>
      <p:sp>
        <p:nvSpPr>
          <p:cNvPr id="15" name="矩形 11"/>
          <p:cNvSpPr>
            <a:spLocks noChangeArrowheads="1"/>
          </p:cNvSpPr>
          <p:nvPr/>
        </p:nvSpPr>
        <p:spPr bwMode="auto">
          <a:xfrm>
            <a:off x="-22225" y="6487795"/>
            <a:ext cx="12214225" cy="370205"/>
          </a:xfrm>
          <a:prstGeom prst="rect">
            <a:avLst/>
          </a:prstGeom>
          <a:solidFill>
            <a:srgbClr val="9F1300"/>
          </a:solidFill>
          <a:ln>
            <a:solidFill>
              <a:srgbClr val="9F1300"/>
            </a:solidFill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latin typeface="Impact" panose="020B080603090205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12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信息科学</a:t>
            </a:r>
            <a:endParaRPr lang="en-US" altLang="zh-CN" dirty="0"/>
          </a:p>
          <a:p>
            <a:pPr lvl="1"/>
            <a:r>
              <a:rPr lang="zh-CN" altLang="en-US" dirty="0"/>
              <a:t>研究信息现象及其规律的科学。中心问题是阐明信息的本质，探讨信息在人类的认识和实践</a:t>
            </a:r>
            <a:r>
              <a:rPr lang="zh-CN" altLang="en-US" dirty="0" smtClean="0"/>
              <a:t>过程</a:t>
            </a:r>
          </a:p>
          <a:p>
            <a:pPr marL="457200" lvl="1" indent="0">
              <a:buNone/>
            </a:pPr>
            <a:r>
              <a:rPr lang="zh-CN" altLang="en-US" dirty="0" smtClean="0"/>
              <a:t>中发挥作用的基本规律，即通过外部世界的信息来认识世界，通过主体的控制信息来改造世界。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《</a:t>
            </a:r>
            <a:r>
              <a:rPr lang="zh-CN" altLang="en-US" dirty="0"/>
              <a:t>辞海</a:t>
            </a:r>
            <a:r>
              <a:rPr lang="en-US" altLang="zh-CN" dirty="0"/>
              <a:t>》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信息科学是研究信息运动规律和应用方法的科学，是由信息论、控制论、计算机理论、</a:t>
            </a:r>
            <a:r>
              <a:rPr lang="zh-CN" altLang="en-US" dirty="0" smtClean="0"/>
              <a:t>人工智能理论</a:t>
            </a:r>
            <a:r>
              <a:rPr lang="zh-CN" altLang="en-US" dirty="0"/>
              <a:t>和系统论相互渗透、相互结合而成的一门新兴综合性科学。（百度百科）</a:t>
            </a:r>
          </a:p>
          <a:p>
            <a:pPr lvl="1"/>
            <a:r>
              <a:rPr lang="en-US" altLang="zh-CN" dirty="0"/>
              <a:t>Information science (also known as information studies) is an academic field which is primarily concerned with analysis, collection, classification, manipulation, storage, retrieval, movement, dissemination, and protection of information. (</a:t>
            </a:r>
            <a:r>
              <a:rPr lang="en-US" altLang="zh-CN" dirty="0" err="1"/>
              <a:t>WikiPedia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• </a:t>
            </a:r>
            <a:r>
              <a:rPr lang="zh-CN" altLang="en-US" dirty="0"/>
              <a:t>信息科学技术（专业）</a:t>
            </a:r>
          </a:p>
          <a:p>
            <a:pPr lvl="1"/>
            <a:r>
              <a:rPr lang="zh-CN" altLang="en-US" dirty="0"/>
              <a:t>信息科学技术专业是一个大学专业，培养具有扎实的数学、物理、电子和计算机的基础知识，系</a:t>
            </a:r>
          </a:p>
          <a:p>
            <a:pPr marL="457200" lvl="1" indent="0">
              <a:buNone/>
            </a:pPr>
            <a:r>
              <a:rPr lang="zh-CN" altLang="en-US" dirty="0"/>
              <a:t>统地掌握光学信息处理技术、现代电子学技术和计算机应用技术的基本技能，能在光通信、</a:t>
            </a:r>
            <a:r>
              <a:rPr lang="zh-CN" altLang="en-US" dirty="0" smtClean="0"/>
              <a:t>光学信息处理</a:t>
            </a:r>
            <a:r>
              <a:rPr lang="zh-CN" altLang="en-US" dirty="0"/>
              <a:t>、以及相关的电子信息科学、计算机科学等信息技术领域、特别是光机电算一体化</a:t>
            </a:r>
            <a:r>
              <a:rPr lang="zh-CN" altLang="en-US" dirty="0" smtClean="0"/>
              <a:t>产业从事</a:t>
            </a:r>
            <a:r>
              <a:rPr lang="zh-CN" altLang="en-US" dirty="0"/>
              <a:t>科学研究、产品设计和开发、生产技术或管理的面向二十一世纪的高级专门人才。（百度</a:t>
            </a:r>
            <a:r>
              <a:rPr lang="zh-CN" altLang="en-US" dirty="0" smtClean="0"/>
              <a:t>百科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23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CSRanking: Computer Science Rankings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1761" y="932019"/>
            <a:ext cx="8832843" cy="592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17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课程组织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15570"/>
            <a:ext cx="3024963" cy="5061395"/>
          </a:xfrm>
        </p:spPr>
        <p:txBody>
          <a:bodyPr/>
          <a:lstStyle/>
          <a:p>
            <a:r>
              <a:rPr lang="zh-CN" altLang="en-US" dirty="0" smtClean="0"/>
              <a:t>主持人</a:t>
            </a:r>
            <a:endParaRPr lang="en-US" altLang="zh-CN" dirty="0" smtClean="0"/>
          </a:p>
          <a:p>
            <a:pPr lvl="1"/>
            <a:r>
              <a:rPr lang="zh-CN" altLang="en-US" dirty="0"/>
              <a:t>刘云</a:t>
            </a:r>
            <a:r>
              <a:rPr lang="zh-CN" altLang="en-US" dirty="0" smtClean="0"/>
              <a:t>淮</a:t>
            </a:r>
            <a:endParaRPr lang="en-US" altLang="zh-CN" dirty="0"/>
          </a:p>
          <a:p>
            <a:r>
              <a:rPr lang="zh-CN" altLang="en-US" dirty="0" smtClean="0"/>
              <a:t>授课时间地点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周一 </a:t>
            </a:r>
            <a:r>
              <a:rPr lang="en-US" altLang="zh-CN" dirty="0" smtClean="0"/>
              <a:t>15:10-17:00</a:t>
            </a:r>
          </a:p>
          <a:p>
            <a:pPr lvl="1"/>
            <a:r>
              <a:rPr lang="zh-CN" altLang="en-US" dirty="0" smtClean="0"/>
              <a:t>授课地点 一教</a:t>
            </a:r>
            <a:r>
              <a:rPr lang="en-US" altLang="zh-CN" dirty="0" smtClean="0"/>
              <a:t>204</a:t>
            </a:r>
            <a:endParaRPr lang="en-US" altLang="zh-CN" dirty="0"/>
          </a:p>
          <a:p>
            <a:r>
              <a:rPr lang="zh-CN" altLang="en-US" dirty="0" smtClean="0"/>
              <a:t>内容安排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学术前沿讲座</a:t>
            </a:r>
            <a:endParaRPr lang="en-US" altLang="zh-CN" dirty="0" smtClean="0"/>
          </a:p>
          <a:p>
            <a:pPr lvl="1"/>
            <a:r>
              <a:rPr lang="zh-CN" altLang="en-US" dirty="0"/>
              <a:t>校</a:t>
            </a:r>
            <a:r>
              <a:rPr lang="zh-CN" altLang="en-US" dirty="0" smtClean="0"/>
              <a:t>内、校外、行业</a:t>
            </a:r>
            <a:endParaRPr lang="en-US" altLang="zh-CN" dirty="0" smtClean="0"/>
          </a:p>
          <a:p>
            <a:r>
              <a:rPr lang="zh-CN" altLang="en-US" dirty="0" smtClean="0"/>
              <a:t>考核方式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签到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期末总结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B3610A-FB6D-47F0-B6FD-3F0A8E73C4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856568"/>
              </p:ext>
            </p:extLst>
          </p:nvPr>
        </p:nvGraphicFramePr>
        <p:xfrm>
          <a:off x="3863163" y="996698"/>
          <a:ext cx="8128000" cy="5453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437">
                  <a:extLst>
                    <a:ext uri="{9D8B030D-6E8A-4147-A177-3AD203B41FA5}">
                      <a16:colId xmlns:a16="http://schemas.microsoft.com/office/drawing/2014/main" val="740174701"/>
                    </a:ext>
                  </a:extLst>
                </a:gridCol>
                <a:gridCol w="962702">
                  <a:extLst>
                    <a:ext uri="{9D8B030D-6E8A-4147-A177-3AD203B41FA5}">
                      <a16:colId xmlns:a16="http://schemas.microsoft.com/office/drawing/2014/main" val="2696330273"/>
                    </a:ext>
                  </a:extLst>
                </a:gridCol>
                <a:gridCol w="1229193">
                  <a:extLst>
                    <a:ext uri="{9D8B030D-6E8A-4147-A177-3AD203B41FA5}">
                      <a16:colId xmlns:a16="http://schemas.microsoft.com/office/drawing/2014/main" val="1127041766"/>
                    </a:ext>
                  </a:extLst>
                </a:gridCol>
                <a:gridCol w="3912433">
                  <a:extLst>
                    <a:ext uri="{9D8B030D-6E8A-4147-A177-3AD203B41FA5}">
                      <a16:colId xmlns:a16="http://schemas.microsoft.com/office/drawing/2014/main" val="2893283377"/>
                    </a:ext>
                  </a:extLst>
                </a:gridCol>
                <a:gridCol w="1213235">
                  <a:extLst>
                    <a:ext uri="{9D8B030D-6E8A-4147-A177-3AD203B41FA5}">
                      <a16:colId xmlns:a16="http://schemas.microsoft.com/office/drawing/2014/main" val="2063393463"/>
                    </a:ext>
                  </a:extLst>
                </a:gridCol>
              </a:tblGrid>
              <a:tr h="310938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教学周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日期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嘉宾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主题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备注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83295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9.9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刘云淮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25863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9.14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李文新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北大计算机人才培养与人工智能的初心</a:t>
                      </a:r>
                      <a:r>
                        <a:rPr lang="en-US" altLang="zh-CN" sz="1400" dirty="0" smtClean="0"/>
                        <a:t>/</a:t>
                      </a:r>
                      <a:r>
                        <a:rPr lang="zh-CN" altLang="en-US" sz="1400" dirty="0" smtClean="0"/>
                        <a:t>进展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中秋节调休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70710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9.23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杨仝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大数据与大模型的数据结构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051628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9.30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陈宝权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物理世界仿真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604631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10.7</a:t>
                      </a:r>
                      <a:r>
                        <a:rPr lang="zh-CN" altLang="en-US" sz="1400" dirty="0" smtClean="0"/>
                        <a:t>放假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680554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10.14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马思伟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新一代</a:t>
                      </a:r>
                      <a:r>
                        <a:rPr lang="en-US" altLang="zh-CN" sz="1400" dirty="0" smtClean="0"/>
                        <a:t>AI</a:t>
                      </a:r>
                      <a:r>
                        <a:rPr lang="zh-CN" altLang="en-US" sz="1400" dirty="0" smtClean="0"/>
                        <a:t>视频编解码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554920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10.21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王涵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472028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10.28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张德升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具身智能在工业场景落地的机会和挑战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961544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11.4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周沛劼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340557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11.11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张文涛（一节）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大模型的数据预处理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495162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11.18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359453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11.25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190492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12.2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41998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12.9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72603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12.16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101515"/>
                  </a:ext>
                </a:extLst>
              </a:tr>
              <a:tr h="30828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12.23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98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64954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414</Words>
  <Application>Microsoft Office PowerPoint</Application>
  <PresentationFormat>宽屏</PresentationFormat>
  <Paragraphs>85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宋体</vt:lpstr>
      <vt:lpstr>Microsoft YaHei</vt:lpstr>
      <vt:lpstr>Microsoft YaHei</vt:lpstr>
      <vt:lpstr>等线</vt:lpstr>
      <vt:lpstr>黑体</vt:lpstr>
      <vt:lpstr>Arial</vt:lpstr>
      <vt:lpstr>Calibri</vt:lpstr>
      <vt:lpstr>Copperplate Gothic Bold</vt:lpstr>
      <vt:lpstr>Impact</vt:lpstr>
      <vt:lpstr>Wingdings</vt:lpstr>
      <vt:lpstr>1_Office 主题​​</vt:lpstr>
      <vt:lpstr>04830010 信息技术概论</vt:lpstr>
      <vt:lpstr>PowerPoint 演示文稿</vt:lpstr>
      <vt:lpstr>CSRanking: Computer Science Rankings</vt:lpstr>
      <vt:lpstr>课程组织</vt:lpstr>
    </vt:vector>
  </TitlesOfParts>
  <Company>PKU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04830010 信息技术概论</dc:title>
  <dc:creator>Yunhuai</dc:creator>
  <cp:lastModifiedBy>Yunhuai</cp:lastModifiedBy>
  <cp:revision>8</cp:revision>
  <dcterms:created xsi:type="dcterms:W3CDTF">2024-09-09T05:52:10Z</dcterms:created>
  <dcterms:modified xsi:type="dcterms:W3CDTF">2024-09-10T09:40:18Z</dcterms:modified>
</cp:coreProperties>
</file>